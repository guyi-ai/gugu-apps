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82.xml" ContentType="application/vnd.openxmlformats-officedocument.presentationml.slideLayout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slideMasters/slideMaster8.xml" ContentType="application/vnd.openxmlformats-officedocument.presentationml.slideMaster+xml"/>
  <Default Extension="xlsx" ContentType="application/vnd.openxmlformats-officedocument.spreadsheetml.sheet"/>
  <Override PartName="/ppt/slideMasters/slideMaster4.xml" ContentType="application/vnd.openxmlformats-officedocument.presentationml.slideMaster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10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76.xml" ContentType="application/vnd.openxmlformats-officedocument.presentationml.slideLayout+xml"/>
  <Default Extension="png" ContentType="image/png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9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Layouts/slideLayout10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Masters/slideMaster7.xml" ContentType="application/vnd.openxmlformats-officedocument.presentationml.slideMaster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Masters/slideMaster5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7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11.xml" ContentType="application/vnd.openxmlformats-officedocument.theme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91.xml" ContentType="application/vnd.openxmlformats-officedocument.presentationml.slideLayout+xml"/>
  <Default Extension="wmf" ContentType="image/x-wmf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commentAuthors.xml" ContentType="application/vnd.openxmlformats-officedocument.presentationml.commentAuthors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Default Extension="jpeg" ContentType="image/jpeg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  <p:sldMasterId id="2147483768" r:id="rId9"/>
  </p:sldMasterIdLst>
  <p:notesMasterIdLst>
    <p:notesMasterId r:id="rId26"/>
  </p:notesMasterIdLst>
  <p:handoutMasterIdLst>
    <p:handoutMasterId r:id="rId27"/>
  </p:handoutMasterIdLst>
  <p:sldIdLst>
    <p:sldId id="368" r:id="rId20"/>
  </p:sldIdLst>
  <p:sldSz cx="9144000" cy="6858000" type="screen4x3"/>
  <p:notesSz cx="7019925" cy="93059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dward Smith" initials="ES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00202"/>
    <a:srgbClr val="C60036"/>
    <a:srgbClr val="ACACAC"/>
    <a:srgbClr val="867F7C"/>
    <a:srgbClr val="AD003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6" autoAdjust="0"/>
    <p:restoredTop sz="86996" autoAdjust="0"/>
  </p:normalViewPr>
  <p:slideViewPr>
    <p:cSldViewPr>
      <p:cViewPr>
        <p:scale>
          <a:sx n="104" d="100"/>
          <a:sy n="104" d="100"/>
        </p:scale>
        <p:origin x="-72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3126" y="-84"/>
      </p:cViewPr>
      <p:guideLst>
        <p:guide orient="horz" pos="2931"/>
        <p:guide pos="2211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20" Type="http://schemas.openxmlformats.org/officeDocument/2006/relationships/slide" Target="slides/slide1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28" Type="http://schemas.openxmlformats.org/officeDocument/2006/relationships/commentAuthors" Target="commentAuthors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2"/>
  <c:chart>
    <c:autoTitleDeleted val="1"/>
    <c:plotArea>
      <c:layout/>
      <c:barChart>
        <c:barDir val="col"/>
        <c:grouping val="percentStacked"/>
        <c:ser>
          <c:idx val="0"/>
          <c:order val="0"/>
          <c:tx>
            <c:strRef>
              <c:f>'Sheet1'!$B$1</c:f>
              <c:strCache>
                <c:ptCount val="1"/>
                <c:pt idx="0">
                  <c:v>Less than HS</c:v>
                </c:pt>
              </c:strCache>
            </c:strRef>
          </c:tx>
          <c:dLbls>
            <c:showVal val="1"/>
          </c:dLbls>
          <c:cat>
            <c:strRef>
              <c:f>'Sheet1'!$A$2:$A$6</c:f>
              <c:strCache>
                <c:ptCount val="5"/>
                <c:pt idx="0">
                  <c:v>African American</c:v>
                </c:pt>
                <c:pt idx="1">
                  <c:v>Asian American</c:v>
                </c:pt>
                <c:pt idx="2">
                  <c:v>Latino/a</c:v>
                </c:pt>
                <c:pt idx="3">
                  <c:v>Native American</c:v>
                </c:pt>
                <c:pt idx="4">
                  <c:v>White</c:v>
                </c:pt>
              </c:strCache>
            </c:strRef>
          </c:cat>
          <c:val>
            <c:numRef>
              <c:f>'Sheet1'!$B$2:$B$6</c:f>
              <c:numCache>
                <c:formatCode>General</c:formatCode>
                <c:ptCount val="5"/>
                <c:pt idx="0">
                  <c:v>26</c:v>
                </c:pt>
                <c:pt idx="1">
                  <c:v>7</c:v>
                </c:pt>
                <c:pt idx="2">
                  <c:v>28</c:v>
                </c:pt>
                <c:pt idx="3">
                  <c:v>31</c:v>
                </c:pt>
                <c:pt idx="4">
                  <c:v>13</c:v>
                </c:pt>
              </c:numCache>
            </c:numRef>
          </c:val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HS Diploma / GED</c:v>
                </c:pt>
              </c:strCache>
            </c:strRef>
          </c:tx>
          <c:dLbls>
            <c:showVal val="1"/>
          </c:dLbls>
          <c:cat>
            <c:strRef>
              <c:f>'Sheet1'!$A$2:$A$6</c:f>
              <c:strCache>
                <c:ptCount val="5"/>
                <c:pt idx="0">
                  <c:v>African American</c:v>
                </c:pt>
                <c:pt idx="1">
                  <c:v>Asian American</c:v>
                </c:pt>
                <c:pt idx="2">
                  <c:v>Latino/a</c:v>
                </c:pt>
                <c:pt idx="3">
                  <c:v>Native American</c:v>
                </c:pt>
                <c:pt idx="4">
                  <c:v>White</c:v>
                </c:pt>
              </c:strCache>
            </c:strRef>
          </c:cat>
          <c:val>
            <c:numRef>
              <c:f>'Sheet1'!$C$2:$C$6</c:f>
              <c:numCache>
                <c:formatCode>General</c:formatCode>
                <c:ptCount val="5"/>
                <c:pt idx="0">
                  <c:v>30</c:v>
                </c:pt>
                <c:pt idx="1">
                  <c:v>11</c:v>
                </c:pt>
                <c:pt idx="2">
                  <c:v>28</c:v>
                </c:pt>
                <c:pt idx="3">
                  <c:v>33</c:v>
                </c:pt>
                <c:pt idx="4">
                  <c:v>22</c:v>
                </c:pt>
              </c:numCache>
            </c:numRef>
          </c:val>
        </c:ser>
        <c:ser>
          <c:idx val="2"/>
          <c:order val="2"/>
          <c:tx>
            <c:strRef>
              <c:f>'Sheet1'!$D$1</c:f>
              <c:strCache>
                <c:ptCount val="1"/>
                <c:pt idx="0">
                  <c:v>College Enrollment</c:v>
                </c:pt>
              </c:strCache>
            </c:strRef>
          </c:tx>
          <c:dLbls>
            <c:showVal val="1"/>
          </c:dLbls>
          <c:cat>
            <c:strRef>
              <c:f>'Sheet1'!$A$2:$A$6</c:f>
              <c:strCache>
                <c:ptCount val="5"/>
                <c:pt idx="0">
                  <c:v>African American</c:v>
                </c:pt>
                <c:pt idx="1">
                  <c:v>Asian American</c:v>
                </c:pt>
                <c:pt idx="2">
                  <c:v>Latino/a</c:v>
                </c:pt>
                <c:pt idx="3">
                  <c:v>Native American</c:v>
                </c:pt>
                <c:pt idx="4">
                  <c:v>White</c:v>
                </c:pt>
              </c:strCache>
            </c:strRef>
          </c:cat>
          <c:val>
            <c:numRef>
              <c:f>'Sheet1'!$D$2:$D$6</c:f>
              <c:numCache>
                <c:formatCode>General</c:formatCode>
                <c:ptCount val="5"/>
                <c:pt idx="0">
                  <c:v>37</c:v>
                </c:pt>
                <c:pt idx="1">
                  <c:v>62</c:v>
                </c:pt>
                <c:pt idx="2">
                  <c:v>37</c:v>
                </c:pt>
                <c:pt idx="3">
                  <c:v>30</c:v>
                </c:pt>
                <c:pt idx="4">
                  <c:v>51</c:v>
                </c:pt>
              </c:numCache>
            </c:numRef>
          </c:val>
        </c:ser>
        <c:ser>
          <c:idx val="3"/>
          <c:order val="3"/>
          <c:tx>
            <c:strRef>
              <c:f>'Sheet1'!$E$1</c:f>
              <c:strCache>
                <c:ptCount val="1"/>
                <c:pt idx="0">
                  <c:v>Degree Attained</c:v>
                </c:pt>
              </c:strCache>
            </c:strRef>
          </c:tx>
          <c:dLbls>
            <c:showVal val="1"/>
          </c:dLbls>
          <c:cat>
            <c:strRef>
              <c:f>'Sheet1'!$A$2:$A$6</c:f>
              <c:strCache>
                <c:ptCount val="5"/>
                <c:pt idx="0">
                  <c:v>African American</c:v>
                </c:pt>
                <c:pt idx="1">
                  <c:v>Asian American</c:v>
                </c:pt>
                <c:pt idx="2">
                  <c:v>Latino/a</c:v>
                </c:pt>
                <c:pt idx="3">
                  <c:v>Native American</c:v>
                </c:pt>
                <c:pt idx="4">
                  <c:v>White</c:v>
                </c:pt>
              </c:strCache>
            </c:strRef>
          </c:cat>
          <c:val>
            <c:numRef>
              <c:f>'Sheet1'!$E$2:$E$6</c:f>
              <c:numCache>
                <c:formatCode>General</c:formatCode>
                <c:ptCount val="5"/>
                <c:pt idx="0">
                  <c:v>6</c:v>
                </c:pt>
                <c:pt idx="1">
                  <c:v>20</c:v>
                </c:pt>
                <c:pt idx="2">
                  <c:v>7</c:v>
                </c:pt>
                <c:pt idx="3">
                  <c:v>6</c:v>
                </c:pt>
                <c:pt idx="4">
                  <c:v>14</c:v>
                </c:pt>
              </c:numCache>
            </c:numRef>
          </c:val>
        </c:ser>
        <c:gapWidth val="75"/>
        <c:overlap val="100"/>
        <c:axId val="74281344"/>
        <c:axId val="91256320"/>
      </c:barChart>
      <c:catAx>
        <c:axId val="74281344"/>
        <c:scaling>
          <c:orientation val="minMax"/>
        </c:scaling>
        <c:axPos val="b"/>
        <c:majorTickMark val="none"/>
        <c:tickLblPos val="nextTo"/>
        <c:crossAx val="91256320"/>
        <c:crosses val="autoZero"/>
        <c:auto val="1"/>
        <c:lblAlgn val="ctr"/>
        <c:lblOffset val="100"/>
      </c:catAx>
      <c:valAx>
        <c:axId val="91256320"/>
        <c:scaling>
          <c:orientation val="minMax"/>
        </c:scaling>
        <c:axPos val="l"/>
        <c:majorGridlines/>
        <c:numFmt formatCode="0%" sourceLinked="1"/>
        <c:majorTickMark val="none"/>
        <c:tickLblPos val="nextTo"/>
        <c:spPr>
          <a:ln w="9525">
            <a:noFill/>
          </a:ln>
        </c:spPr>
        <c:crossAx val="74281344"/>
        <c:crosses val="autoZero"/>
        <c:crossBetween val="between"/>
      </c:valAx>
    </c:plotArea>
    <c:legend>
      <c:legendPos val="b"/>
      <c:layout/>
    </c:legend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2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'Sheet1'!$B$1</c:f>
              <c:strCache>
                <c:ptCount val="1"/>
                <c:pt idx="0">
                  <c:v>Less than HS</c:v>
                </c:pt>
              </c:strCache>
            </c:strRef>
          </c:tx>
          <c:dLbls>
            <c:showVal val="1"/>
          </c:dLbls>
          <c:cat>
            <c:numRef>
              <c:f>'Sheet1'!$A$2:$A$3</c:f>
              <c:numCache>
                <c:formatCode>General</c:formatCode>
                <c:ptCount val="2"/>
                <c:pt idx="0">
                  <c:v>2000</c:v>
                </c:pt>
                <c:pt idx="1">
                  <c:v>2008</c:v>
                </c:pt>
              </c:numCache>
            </c:numRef>
          </c:cat>
          <c:val>
            <c:numRef>
              <c:f>'Sheet1'!$B$2:$B$3</c:f>
              <c:numCache>
                <c:formatCode>General</c:formatCode>
                <c:ptCount val="2"/>
                <c:pt idx="0">
                  <c:v>34</c:v>
                </c:pt>
                <c:pt idx="1">
                  <c:v>26</c:v>
                </c:pt>
              </c:numCache>
            </c:numRef>
          </c:val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HS Diploma / GED</c:v>
                </c:pt>
              </c:strCache>
            </c:strRef>
          </c:tx>
          <c:dLbls>
            <c:showVal val="1"/>
          </c:dLbls>
          <c:cat>
            <c:numRef>
              <c:f>'Sheet1'!$A$2:$A$3</c:f>
              <c:numCache>
                <c:formatCode>General</c:formatCode>
                <c:ptCount val="2"/>
                <c:pt idx="0">
                  <c:v>2000</c:v>
                </c:pt>
                <c:pt idx="1">
                  <c:v>2008</c:v>
                </c:pt>
              </c:numCache>
            </c:numRef>
          </c:cat>
          <c:val>
            <c:numRef>
              <c:f>'Sheet1'!$C$2:$C$3</c:f>
              <c:numCache>
                <c:formatCode>General</c:formatCode>
                <c:ptCount val="2"/>
                <c:pt idx="0">
                  <c:v>29</c:v>
                </c:pt>
                <c:pt idx="1">
                  <c:v>30</c:v>
                </c:pt>
              </c:numCache>
            </c:numRef>
          </c:val>
        </c:ser>
        <c:ser>
          <c:idx val="2"/>
          <c:order val="2"/>
          <c:tx>
            <c:strRef>
              <c:f>'Sheet1'!$D$1</c:f>
              <c:strCache>
                <c:ptCount val="1"/>
                <c:pt idx="0">
                  <c:v>College Enrollment</c:v>
                </c:pt>
              </c:strCache>
            </c:strRef>
          </c:tx>
          <c:dLbls>
            <c:showVal val="1"/>
          </c:dLbls>
          <c:cat>
            <c:numRef>
              <c:f>'Sheet1'!$A$2:$A$3</c:f>
              <c:numCache>
                <c:formatCode>General</c:formatCode>
                <c:ptCount val="2"/>
                <c:pt idx="0">
                  <c:v>2000</c:v>
                </c:pt>
                <c:pt idx="1">
                  <c:v>2008</c:v>
                </c:pt>
              </c:numCache>
            </c:numRef>
          </c:cat>
          <c:val>
            <c:numRef>
              <c:f>'Sheet1'!$D$2:$D$3</c:f>
              <c:numCache>
                <c:formatCode>General</c:formatCode>
                <c:ptCount val="2"/>
                <c:pt idx="0">
                  <c:v>32</c:v>
                </c:pt>
                <c:pt idx="1">
                  <c:v>37</c:v>
                </c:pt>
              </c:numCache>
            </c:numRef>
          </c:val>
        </c:ser>
        <c:ser>
          <c:idx val="3"/>
          <c:order val="3"/>
          <c:tx>
            <c:strRef>
              <c:f>'Sheet1'!$E$1</c:f>
              <c:strCache>
                <c:ptCount val="1"/>
                <c:pt idx="0">
                  <c:v>Degree Attainment</c:v>
                </c:pt>
              </c:strCache>
            </c:strRef>
          </c:tx>
          <c:dLbls>
            <c:showVal val="1"/>
          </c:dLbls>
          <c:cat>
            <c:numRef>
              <c:f>'Sheet1'!$A$2:$A$3</c:f>
              <c:numCache>
                <c:formatCode>General</c:formatCode>
                <c:ptCount val="2"/>
                <c:pt idx="0">
                  <c:v>2000</c:v>
                </c:pt>
                <c:pt idx="1">
                  <c:v>2008</c:v>
                </c:pt>
              </c:numCache>
            </c:numRef>
          </c:cat>
          <c:val>
            <c:numRef>
              <c:f>'Sheet1'!$E$2:$E$3</c:f>
              <c:numCache>
                <c:formatCode>General</c:formatCode>
                <c:ptCount val="2"/>
                <c:pt idx="0">
                  <c:v>5</c:v>
                </c:pt>
                <c:pt idx="1">
                  <c:v>6</c:v>
                </c:pt>
              </c:numCache>
            </c:numRef>
          </c:val>
        </c:ser>
        <c:gapWidth val="75"/>
        <c:axId val="91415680"/>
        <c:axId val="91417216"/>
      </c:barChart>
      <c:catAx>
        <c:axId val="91415680"/>
        <c:scaling>
          <c:orientation val="minMax"/>
        </c:scaling>
        <c:axPos val="b"/>
        <c:numFmt formatCode="General" sourceLinked="1"/>
        <c:majorTickMark val="none"/>
        <c:tickLblPos val="nextTo"/>
        <c:crossAx val="91417216"/>
        <c:crosses val="autoZero"/>
        <c:auto val="1"/>
        <c:lblAlgn val="ctr"/>
        <c:lblOffset val="100"/>
      </c:catAx>
      <c:valAx>
        <c:axId val="91417216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crossAx val="91415680"/>
        <c:crosses val="autoZero"/>
        <c:crossBetween val="between"/>
      </c:valAx>
    </c:plotArea>
    <c:legend>
      <c:legendPos val="b"/>
      <c:layout/>
    </c:legend>
    <c:plotVisOnly val="1"/>
  </c:chart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355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3269" tIns="46634" rIns="93269" bIns="46634" numCol="1" anchor="t" anchorCtr="0" compatLnSpc="1">
            <a:prstTxWarp prst="textNoShape">
              <a:avLst/>
            </a:prstTxWarp>
          </a:bodyPr>
          <a:lstStyle>
            <a:lvl1pPr defTabSz="932912" eaLnBrk="0" hangingPunct="0">
              <a:defRPr sz="1200">
                <a:latin typeface="Arial" charset="0"/>
                <a:ea typeface="ＭＳ Ｐゴシック" pitchFamily="34" charset="-128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5100" y="0"/>
            <a:ext cx="3043238" cy="46355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3269" tIns="46634" rIns="93269" bIns="46634" numCol="1" anchor="t" anchorCtr="0" compatLnSpc="1">
            <a:prstTxWarp prst="textNoShape">
              <a:avLst/>
            </a:prstTxWarp>
          </a:bodyPr>
          <a:lstStyle>
            <a:lvl1pPr algn="r" defTabSz="932912" eaLnBrk="0" hangingPunct="0">
              <a:defRPr sz="1200">
                <a:latin typeface="Arial" charset="0"/>
                <a:ea typeface="ＭＳ Ｐゴシック" pitchFamily="34" charset="-128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63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0788"/>
            <a:ext cx="3043238" cy="46355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3269" tIns="46634" rIns="93269" bIns="46634" numCol="1" anchor="b" anchorCtr="0" compatLnSpc="1">
            <a:prstTxWarp prst="textNoShape">
              <a:avLst/>
            </a:prstTxWarp>
          </a:bodyPr>
          <a:lstStyle>
            <a:lvl1pPr defTabSz="932912" eaLnBrk="0" hangingPunct="0">
              <a:defRPr sz="1200">
                <a:latin typeface="Arial" charset="0"/>
                <a:ea typeface="ＭＳ Ｐゴシック" pitchFamily="34" charset="-128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63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5100" y="8840788"/>
            <a:ext cx="3043238" cy="46355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3269" tIns="46634" rIns="93269" bIns="46634" numCol="1" anchor="b" anchorCtr="0" compatLnSpc="1">
            <a:prstTxWarp prst="textNoShape">
              <a:avLst/>
            </a:prstTxWarp>
          </a:bodyPr>
          <a:lstStyle>
            <a:lvl1pPr algn="r" defTabSz="932912" eaLnBrk="0" hangingPunct="0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7005223-9BC0-4CD0-85F6-2DD098FFF7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75050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355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3269" tIns="46634" rIns="93269" bIns="46634" numCol="1" anchor="t" anchorCtr="0" compatLnSpc="1">
            <a:prstTxWarp prst="textNoShape">
              <a:avLst/>
            </a:prstTxWarp>
          </a:bodyPr>
          <a:lstStyle>
            <a:lvl1pPr defTabSz="932912" eaLnBrk="0" hangingPunct="0">
              <a:defRPr sz="1200">
                <a:latin typeface="Arial" charset="0"/>
                <a:ea typeface="ＭＳ Ｐゴシック" pitchFamily="34" charset="-128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6688" y="0"/>
            <a:ext cx="3043237" cy="46355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3269" tIns="46634" rIns="93269" bIns="46634" numCol="1" anchor="t" anchorCtr="0" compatLnSpc="1">
            <a:prstTxWarp prst="textNoShape">
              <a:avLst/>
            </a:prstTxWarp>
          </a:bodyPr>
          <a:lstStyle>
            <a:lvl1pPr algn="r" defTabSz="932912" eaLnBrk="0" hangingPunct="0">
              <a:defRPr sz="1200">
                <a:latin typeface="Arial" charset="0"/>
                <a:ea typeface="ＭＳ Ｐゴシック" pitchFamily="34" charset="-128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54550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421188"/>
            <a:ext cx="5146675" cy="4186237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3269" tIns="46634" rIns="93269" bIns="466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2375"/>
            <a:ext cx="3043238" cy="46355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3269" tIns="46634" rIns="93269" bIns="46634" numCol="1" anchor="b" anchorCtr="0" compatLnSpc="1">
            <a:prstTxWarp prst="textNoShape">
              <a:avLst/>
            </a:prstTxWarp>
          </a:bodyPr>
          <a:lstStyle>
            <a:lvl1pPr defTabSz="932912" eaLnBrk="0" hangingPunct="0">
              <a:defRPr sz="1200">
                <a:latin typeface="Arial" charset="0"/>
                <a:ea typeface="ＭＳ Ｐゴシック" pitchFamily="34" charset="-128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6688" y="8842375"/>
            <a:ext cx="3043237" cy="46355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3269" tIns="46634" rIns="93269" bIns="46634" numCol="1" anchor="b" anchorCtr="0" compatLnSpc="1">
            <a:prstTxWarp prst="textNoShape">
              <a:avLst/>
            </a:prstTxWarp>
          </a:bodyPr>
          <a:lstStyle>
            <a:lvl1pPr algn="r" defTabSz="932912" eaLnBrk="0" hangingPunct="0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B50C399-29FE-4834-8549-2881593A58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650956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931863"/>
            <a:fld id="{00A990D9-A1B1-41FC-96B9-E462CBA2E36C}" type="slidenum">
              <a:rPr lang="en-US">
                <a:solidFill>
                  <a:prstClr val="black"/>
                </a:solidFill>
                <a:cs typeface="Arial" charset="0"/>
              </a:rPr>
              <a:pPr defTabSz="931863"/>
              <a:t>11</a:t>
            </a:fld>
            <a:endParaRPr lang="en-US">
              <a:solidFill>
                <a:prstClr val="black"/>
              </a:solidFill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5F658C-A6C9-495D-91AE-D56C42892B09}" type="datetime1">
              <a:rPr lang="en-US" smtClean="0"/>
              <a:pPr>
                <a:defRPr/>
              </a:pPr>
              <a:t>6/13/2012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69D54-0445-46F7-9245-D0740BBA36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8597F9-BE08-433B-9C37-33DE5D1CB1D8}" type="datetime1">
              <a:rPr lang="en-US" smtClean="0"/>
              <a:pPr>
                <a:defRPr/>
              </a:pPr>
              <a:t>6/13/2012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1E055C-AF28-4DFE-8965-FB54894189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9167A6-5207-4E1F-BA67-8559F826CCEA}" type="datetime1">
              <a:rPr lang="en-US" smtClean="0"/>
              <a:pPr>
                <a:defRPr/>
              </a:pPr>
              <a:t>6/13/2012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D27D16-A3FC-459D-A782-6D052DDDA37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F513A-48E0-428C-8FAB-7D85BEB709C3}" type="datetime1">
              <a:rPr lang="en-US" smtClean="0"/>
              <a:pPr>
                <a:defRPr/>
              </a:pPr>
              <a:t>6/13/2012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B03997-06E0-4864-93C6-DEC4E29FA0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27656-4AAD-4C5A-AE31-D8AAB9C1828B}" type="datetime1">
              <a:rPr lang="en-US" smtClean="0"/>
              <a:pPr>
                <a:defRPr/>
              </a:pPr>
              <a:t>6/13/2012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7BAE7D-A9A6-4678-912D-5F8CECE81B5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4E843-3F5A-4FEC-B664-5695D9712F26}" type="datetime1">
              <a:rPr lang="en-US" smtClean="0"/>
              <a:pPr>
                <a:defRPr/>
              </a:pPr>
              <a:t>6/13/2012</a:t>
            </a:fld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058D5-D44A-4BA3-AB8B-F0CBB4224E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FF9264-AF90-4570-9BDB-4D44D7852DFF}" type="datetime1">
              <a:rPr lang="en-US" smtClean="0"/>
              <a:pPr>
                <a:defRPr/>
              </a:pPr>
              <a:t>6/13/2012</a:t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BF3D2F-6741-4022-9157-19A2277FB44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4F3CB-73C7-4212-900D-009A9C05F09E}" type="datetime1">
              <a:rPr lang="en-US" smtClean="0"/>
              <a:pPr>
                <a:defRPr/>
              </a:pPr>
              <a:t>6/13/2012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9491D5-EC73-413C-AC92-7FDF2B4B65F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4D07EF-8B4D-4C90-B893-E17A02D5FF7A}" type="datetime1">
              <a:rPr lang="en-US" smtClean="0"/>
              <a:pPr>
                <a:defRPr/>
              </a:pPr>
              <a:t>6/13/2012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3BCF0-190F-481B-8FD8-23CC6BDB324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0F979-8F42-411D-804F-C601BDF8E007}" type="datetime1">
              <a:rPr lang="en-US" smtClean="0"/>
              <a:pPr>
                <a:defRPr/>
              </a:pPr>
              <a:t>6/13/2012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67BAB3-586A-46ED-8A2F-F3D1C6892F2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11476-9197-4F2A-B8E9-C2F19FAD02AD}" type="datetime1">
              <a:rPr lang="en-US" smtClean="0"/>
              <a:pPr>
                <a:defRPr/>
              </a:pPr>
              <a:t>6/13/2012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B2DC1-6AD6-4167-8D52-669D17613F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BCB126-1DF8-46EF-8722-6D6D3379BA02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B0A401-554B-409A-9FC0-995B3BE3B57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4CDCED-98FC-4CBE-BD05-21B55E55C4AA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912B1-2B40-4B49-9F6E-F3C38DBD1D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217286-3A2B-4799-A09F-B026CB69DDAF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5DC218-AD77-4548-82BE-44C5D6269CD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2265FB-B31B-43ED-871D-074CE28B1F79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72CE0B-A36F-4856-9B1D-72957D25832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9345D1-163D-4081-8714-92201CAB210C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7A18E-727E-44DA-B21B-3A8D85749D4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0C6A3-7D86-40DB-AC34-FF0363B3EDBD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CF9B91-BF98-45C2-9980-2092B293B99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CC6924-A812-492D-A878-2C564B229A4D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9726E-1060-41D1-9EB5-A5248D9EACD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2DD71-ADB5-4483-B768-4D4802B4D080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8F1109-0143-42AA-B128-9A5417B0BB4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08A19-6609-4198-A8C6-8E39D0AD2D2B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3C0E4-872D-4B2B-A58C-05048E7231D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3AC2F-43A3-4827-92B2-69BC3A45D5BF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B853F2-2876-4EDC-8108-33B2F638E30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EEFAE-0C31-4462-A2A1-9489998F6C6F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F96D3F-8368-4716-8136-6F9CB77930E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2188B3-EEC5-4B8C-8478-85EF4FCECDFA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CA5B1D-FC22-47E5-AD90-B85ACAE0AF5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5247BC-CAE1-4CAF-817D-5A9ABF7E7556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D76948-7B98-4340-94D9-51CC94BD231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D48F69-15E2-479D-A7EB-C721F60AA797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6F0345-4FDA-431E-8298-7BB54C5B0EB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1F319A-6950-4016-A85B-6734BE05F3F1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0E8DF0-C10C-48F6-85C4-47DD7A19590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1D0296-9303-4FB8-9BDF-33CF78BA3B0C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CDA5E3-3670-4ABB-BCCF-96A45828E85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CFB136-DD71-4734-9BB5-D5CFBC37E7C4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4B9A3-593F-4B1F-9E80-3A1B06412F9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AAB042-3F39-4A4D-8B3A-23724294EE15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C9FFF-9D70-4AD4-BD5F-2FB48B0393B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0D603B-B357-4AA7-8D97-2581472D6F82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716E1B-86F1-4C19-8519-CB7DC7E38CB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1D8DB8-7C93-468D-942E-65EE117A25EE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1B025C-01A4-4731-918F-A86B7D1A946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F33D6-7FA4-4C03-A1B0-632777A75BD5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A8E3D0-F0B5-4166-8E88-D2EF9A8A02D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D14E95-3943-465B-AD13-9D6AE9218E28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B0B584-2625-423F-B6AB-BA9688B809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316FB2-2090-4956-9DA0-1F0DDE874CF1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B0A401-554B-409A-9FC0-995B3BE3B57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F0EDBB-5E2D-44BA-9C94-FE5ABD28B0B4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912B1-2B40-4B49-9F6E-F3C38DBD1D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E7A06-84DE-4152-960E-09E96F012B74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5DC218-AD77-4548-82BE-44C5D6269CD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76D998-6916-44CB-9A42-7BE6D4BD5B1F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72CE0B-A36F-4856-9B1D-72957D25832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2E258-3F8F-41C1-9EB5-A4A65DF568A0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7A18E-727E-44DA-B21B-3A8D85749D4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0F29CC-9B38-4C43-BA0C-9E479E6FAAC5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CF9B91-BF98-45C2-9980-2092B293B99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DD7230-9CA8-4FC2-AC34-3EB9A465EAC8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9726E-1060-41D1-9EB5-A5248D9EACD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4CD26-B9DB-4701-8512-8E5A8A84E68D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8F1109-0143-42AA-B128-9A5417B0BB4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CF586-AFA7-4E1B-AD7A-AFA01049EECC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3C0E4-872D-4B2B-A58C-05048E7231D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F070D-2B07-45D2-97D2-A0333EA6E405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B853F2-2876-4EDC-8108-33B2F638E30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3E039-80F4-4284-85F7-B87D301A6921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F96D3F-8368-4716-8136-6F9CB77930E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B7947-197A-495D-A798-124A909FB15E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CB404-2BFA-42E1-B554-174576B00A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3C704-367C-4162-B648-05A1EA2AE98C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F6987-C020-4F7E-8D62-24431881736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3BA35D-CD97-4177-A261-1D74F3C106C5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B1996-44AA-47DA-AA01-B13E4314D7D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E1A4F8-8742-4AAE-B13E-FF4B32E6FE73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139BA5-10DD-45D5-98EB-DE16F5157CA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B85234-DAEC-407A-AA05-53AF08C617AD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226B4A-AA2F-4684-BB2D-71170F05EC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0C41A8-D8AC-40CE-B651-5911AD4D06DC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FF952-92A7-426B-8F60-12ABB7553AD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332651-EC2A-4C56-84F9-D6B6EC5BAD99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9382B4-7C7F-4961-89E6-8721202B8A5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D973C6-9CA4-4AB2-A0DD-365AD1130205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602562-4618-49F5-8BE6-073CFE20A62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4866C-2D46-4E19-83ED-DBF31C2A1FF5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A34FD9-D2C9-41BD-867B-81C2B41B532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BF1CB0-8465-42A7-B1EA-3BC188BC3A98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5AD74F-9B2A-460E-8DEA-FB9D24C141E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1A700-FD8F-4586-892C-86E35340F7DA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5F41D-BA6C-4FE3-A764-CAC9A060B0A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BDB944-684C-4859-8F20-1F230BD22847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CB404-2BFA-42E1-B554-174576B00A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41A64-CA25-4CA3-A93C-2ADEAB56DF33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F6987-C020-4F7E-8D62-24431881736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7630E8-B40C-49AA-871B-0CE3AC77A429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B1996-44AA-47DA-AA01-B13E4314D7D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989B1D-A1B5-4954-BFBB-052E82AFF666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139BA5-10DD-45D5-98EB-DE16F5157CA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476D8-8E72-427E-AED3-ECF2640C8A1C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226B4A-AA2F-4684-BB2D-71170F05EC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72F5CE-FFC6-40C5-8EB1-137F67516B2A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FF952-92A7-426B-8F60-12ABB7553AD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1D6C2C-2492-41B5-8405-229868259E23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9382B4-7C7F-4961-89E6-8721202B8A5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FB224C-36A1-4DAC-A9B0-AB9D94163248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602562-4618-49F5-8BE6-073CFE20A62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0F37F-B425-4AD1-B1EA-BD34EFC2F665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A34FD9-D2C9-41BD-867B-81C2B41B532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F6647-70FE-4AE3-A8F4-3A92E0CEBD23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5AD74F-9B2A-460E-8DEA-FB9D24C141E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CBF866-B902-4360-AF37-C729810D925D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5F41D-BA6C-4FE3-A764-CAC9A060B0A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B4A068-2457-44B2-B356-1349087F4FE7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CB404-2BFA-42E1-B554-174576B00A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336EAD-2956-42AE-8158-D4DBCC4DE533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F6987-C020-4F7E-8D62-24431881736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E2B80-3507-420B-9096-DB15F17D8FFC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B1996-44AA-47DA-AA01-B13E4314D7D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84812C-C727-474A-B003-40577D88803F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139BA5-10DD-45D5-98EB-DE16F5157CA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5A812B-BEF4-4392-82E2-33194D719ED9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226B4A-AA2F-4684-BB2D-71170F05EC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0B7EA-815B-4D89-AFB5-83087D42E651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FF952-92A7-426B-8F60-12ABB7553AD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8D63A0-3E6C-4014-9216-530921D14E4D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9382B4-7C7F-4961-89E6-8721202B8A5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08CE0-C234-4AEA-9295-13C0835FD6AA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602562-4618-49F5-8BE6-073CFE20A62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0A3B7A-D90C-4794-8276-7BD6622C3A12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A34FD9-D2C9-41BD-867B-81C2B41B532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641BD-BCEF-43F3-8887-88B9FAF9B518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5AD74F-9B2A-460E-8DEA-FB9D24C141E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B9CA6D-0E4D-498A-B686-74627575DC77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5F41D-BA6C-4FE3-A764-CAC9A060B0A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F7F80-D9F1-4C9C-9B5A-596E0FD52541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767149-6EEB-40C4-8EC1-5183B81E088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339CCC-BDEB-491F-A8DF-B2FB3AF56B44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3208DB-9248-46F2-B275-7BA5BFD04DE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F801AE-14F2-4D3B-A672-9ACE79743941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B64883-F4F2-40F1-A45C-DAB468D918E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438C28-0C4E-4446-A976-6CC89C5A8693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CD401A-9670-42B2-90F0-30EECAC3B94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08AE1-5883-4E58-8F54-34785B520F34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CEFF6B-7632-457A-939C-D614B968A38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BB324-4C89-4FB5-B906-1A303B192C79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5E0B41-533E-46A7-B0AA-C9B1FCD2A57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F5969-F8F4-445A-AE68-05F356BF84DC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990D1-1594-4B72-AE05-C9E61640199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69F123-C511-469D-90F8-E978D22DCFBE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30B3E0-EC87-4101-B256-A7A9B3C3646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01C8A2-A50A-4FD7-9559-6E64B5729EED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B8BCA-C880-44D9-B236-28489AD8B6D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77391-9B78-4A20-8985-259DD9BCB5C8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E655A1-DF1C-4368-81B5-07933D1EFF4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3BC60-9632-4702-A363-AFBD10D5A1B2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481C7F-87DE-409B-B912-2BE3A8475C8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A3CD8D-B3EE-4975-87B6-32AFB7BFEDD2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3C6561-8734-4DFA-B79A-889FFBDFDDC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DBDA00-A963-4DCE-BCA5-FE51D2BA685B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D18AF4-8641-48B9-BEEA-BAB59921399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EBFD7-7BB2-4C8E-A1FE-3B623AA3BD30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44DF28-091C-4053-A043-0066AAC1026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99E48A-39ED-4D7D-A0AD-7EC8758E681B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AE0907-0FE8-47BB-A790-91FA0E075EF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B86362-F166-4DD1-BD80-0BCB24428286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807C85-BFEB-443D-B2AC-CBFEE813A99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489D0-F955-4E95-803E-9FDEB060384F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89FB24-CB59-406E-903B-61CBE68E2A5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B1C22E-CA97-46EA-B73B-8589A8960305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E2AB2-6D67-46FE-BE99-EB6F3927777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9939E3-5B43-4002-885D-AEDDFD412966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899EB-F020-4E11-A10E-48D202BE698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9A920-3C3A-4D01-866F-B14357147233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DA0E5A-D166-40A6-AB46-9BA89F6662D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0C0014-AA76-4C36-A87B-BB021987E5F3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EF98A6-C828-4A99-8681-0D09BEAD66D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B4071A-20C5-4796-A019-950737EA0E15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E25CE-1680-4986-A454-5A0B9B65650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F913342E-F4CE-4588-8969-FC8C3F1B9086}" type="datetime1">
              <a:rPr lang="en-US" smtClean="0"/>
              <a:pPr>
                <a:defRPr/>
              </a:pPr>
              <a:t>6/13/2012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1B219983-45D6-4E3E-B501-97A1C8C0E4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wipe dir="r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6E167D54-D8C7-40D0-B3FA-E350F535B86B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A4D59168-2154-47B0-B151-5413633BCFD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Verdana" pitchFamily="34" charset="0"/>
              </a:defRPr>
            </a:lvl1pPr>
          </a:lstStyle>
          <a:p>
            <a:pPr>
              <a:defRPr/>
            </a:pPr>
            <a:fld id="{C50F96B3-6869-4979-B144-12F2D10DC777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Verdana" pitchFamily="34" charset="0"/>
              </a:defRPr>
            </a:lvl1pPr>
          </a:lstStyle>
          <a:p>
            <a:pPr>
              <a:defRPr/>
            </a:pPr>
            <a:fld id="{923583CC-0BDE-4EB0-A9CA-54B0668EA88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med">
    <p:wipe dir="r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34" charset="-128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34" charset="-128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34" charset="-128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34" charset="-128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C8D414D0-A950-4EE5-BBFC-4B4C8252D413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A4D59168-2154-47B0-B151-5413633BCFD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med">
    <p:wipe dir="r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1B64B018-8A00-475C-AB8D-353846475427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0B698160-289A-4C4E-B4ED-759753BA7C6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spd="med">
    <p:wipe dir="r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525F553A-E459-42E0-A207-269FFC4B0DFE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0B698160-289A-4C4E-B4ED-759753BA7C6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 spd="med">
    <p:wipe dir="r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7FC34132-8270-408B-9C4C-62DE683186CF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0B698160-289A-4C4E-B4ED-759753BA7C6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med">
    <p:wipe dir="r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074361C1-3BDE-47D7-AF53-067DF1FB5698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98FE4BE7-B6B3-4849-8B6E-61B717A6A96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ransition spd="med">
    <p:wipe dir="r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34" charset="-128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CAC8ABEF-0973-4040-B538-02330206D521}" type="datetime1">
              <a:rPr lang="en-US" smtClean="0">
                <a:solidFill>
                  <a:srgbClr val="000000"/>
                </a:solidFill>
              </a:rPr>
              <a:pPr>
                <a:defRPr/>
              </a:pPr>
              <a:t>6/13/2012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491E2443-965E-4602-914B-F97560FB34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ransition spd="med">
    <p:wipe dir="r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0.xml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1143000"/>
          </a:xfrm>
        </p:spPr>
        <p:txBody>
          <a:bodyPr/>
          <a:lstStyle/>
          <a:p>
            <a:r>
              <a:rPr lang="en-US" sz="3600" b="1" smtClean="0">
                <a:solidFill>
                  <a:srgbClr val="C00000"/>
                </a:solidFill>
                <a:latin typeface="Calibri" pitchFamily="34" charset="0"/>
              </a:rPr>
              <a:t>Financial Need Contributes </a:t>
            </a:r>
            <a:br>
              <a:rPr lang="en-US" sz="3600" b="1" smtClean="0">
                <a:solidFill>
                  <a:srgbClr val="C00000"/>
                </a:solidFill>
                <a:latin typeface="Calibri" pitchFamily="34" charset="0"/>
              </a:rPr>
            </a:br>
            <a:r>
              <a:rPr lang="en-US" sz="3600" b="1" smtClean="0">
                <a:solidFill>
                  <a:srgbClr val="C00000"/>
                </a:solidFill>
                <a:latin typeface="Calibri" pitchFamily="34" charset="0"/>
              </a:rPr>
              <a:t>to Failure to Complete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2286000"/>
            <a:ext cx="18288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</a:rPr>
              <a:t>Work/Loan Burden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5600" y="1752600"/>
            <a:ext cx="1676400" cy="6858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</a:rPr>
              <a:t>Too much work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0" y="5638800"/>
            <a:ext cx="1752600" cy="6858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algn="ctr">
              <a:buFontTx/>
              <a:buNone/>
              <a:defRPr/>
            </a:pPr>
            <a:r>
              <a:rPr lang="en-US" sz="2000" b="1" dirty="0" smtClean="0">
                <a:solidFill>
                  <a:schemeClr val="bg1"/>
                </a:solidFill>
                <a:latin typeface="Calibri" pitchFamily="34" charset="0"/>
              </a:rPr>
              <a:t>Failure to 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5600" y="2895600"/>
            <a:ext cx="1676400" cy="6858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</a:rPr>
              <a:t>Stress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9400" y="3962400"/>
            <a:ext cx="19050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Housing and food insecurity </a:t>
            </a:r>
          </a:p>
        </p:txBody>
      </p:sp>
      <p:sp>
        <p:nvSpPr>
          <p:cNvPr id="13" name="Content Placeholder 6"/>
          <p:cNvSpPr txBox="1">
            <a:spLocks/>
          </p:cNvSpPr>
          <p:nvPr/>
        </p:nvSpPr>
        <p:spPr>
          <a:xfrm>
            <a:off x="5638800" y="1828800"/>
            <a:ext cx="1752600" cy="6858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Too little sleep</a:t>
            </a:r>
          </a:p>
        </p:txBody>
      </p:sp>
      <p:sp>
        <p:nvSpPr>
          <p:cNvPr id="14" name="Content Placeholder 6"/>
          <p:cNvSpPr txBox="1">
            <a:spLocks/>
          </p:cNvSpPr>
          <p:nvPr/>
        </p:nvSpPr>
        <p:spPr>
          <a:xfrm>
            <a:off x="5638800" y="4800600"/>
            <a:ext cx="1752600" cy="6858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b="1" dirty="0">
                <a:solidFill>
                  <a:srgbClr val="FFFFFF"/>
                </a:solidFill>
              </a:rPr>
              <a:t>Part-time enrollment</a:t>
            </a:r>
          </a:p>
        </p:txBody>
      </p:sp>
      <p:sp>
        <p:nvSpPr>
          <p:cNvPr id="15" name="Content Placeholder 6"/>
          <p:cNvSpPr txBox="1">
            <a:spLocks/>
          </p:cNvSpPr>
          <p:nvPr/>
        </p:nvSpPr>
        <p:spPr>
          <a:xfrm>
            <a:off x="5638800" y="2819400"/>
            <a:ext cx="1752600" cy="6858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Too little studying</a:t>
            </a:r>
          </a:p>
        </p:txBody>
      </p:sp>
      <p:sp>
        <p:nvSpPr>
          <p:cNvPr id="16" name="Content Placeholder 6"/>
          <p:cNvSpPr txBox="1">
            <a:spLocks/>
          </p:cNvSpPr>
          <p:nvPr/>
        </p:nvSpPr>
        <p:spPr>
          <a:xfrm>
            <a:off x="5638800" y="3810000"/>
            <a:ext cx="1752600" cy="6858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b="1" dirty="0">
                <a:solidFill>
                  <a:srgbClr val="FFFFFF"/>
                </a:solidFill>
              </a:rPr>
              <a:t>Poor grades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rot="5400000" flipH="1" flipV="1">
            <a:off x="2286000" y="2209800"/>
            <a:ext cx="533400" cy="5334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286000" y="2743200"/>
            <a:ext cx="533400" cy="3810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6200000" flipH="1">
            <a:off x="1866900" y="3162300"/>
            <a:ext cx="1295400" cy="4572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5400000" flipH="1" flipV="1">
            <a:off x="3582988" y="2665412"/>
            <a:ext cx="304800" cy="3175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4724400" y="2133600"/>
            <a:ext cx="762000" cy="158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6200000" flipH="1">
            <a:off x="4648200" y="2286000"/>
            <a:ext cx="990600" cy="8382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5" idx="2"/>
            <a:endCxn id="16" idx="0"/>
          </p:cNvCxnSpPr>
          <p:nvPr/>
        </p:nvCxnSpPr>
        <p:spPr>
          <a:xfrm rot="5400000">
            <a:off x="6363494" y="3656806"/>
            <a:ext cx="304800" cy="158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16200000" flipH="1">
            <a:off x="3810000" y="3276600"/>
            <a:ext cx="2590800" cy="7620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16200000" flipH="1">
            <a:off x="6248400" y="5562600"/>
            <a:ext cx="457200" cy="4572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3962400" y="4800600"/>
            <a:ext cx="2667000" cy="12954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/>
          <p:cNvCxnSpPr/>
          <p:nvPr/>
        </p:nvCxnSpPr>
        <p:spPr>
          <a:xfrm rot="16200000" flipH="1">
            <a:off x="7048500" y="4610100"/>
            <a:ext cx="1295400" cy="457200"/>
          </a:xfrm>
          <a:prstGeom prst="bentConnector3">
            <a:avLst>
              <a:gd name="adj1" fmla="val -2084"/>
            </a:avLst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rot="16200000" flipH="1">
            <a:off x="3733800" y="4419600"/>
            <a:ext cx="2514600" cy="6858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5334000" y="6019800"/>
            <a:ext cx="1371600" cy="1524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4648200" y="3352800"/>
            <a:ext cx="914400" cy="7620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rot="10800000">
            <a:off x="7391400" y="4038600"/>
            <a:ext cx="533400" cy="158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H="1">
            <a:off x="6781800" y="2895600"/>
            <a:ext cx="1828800" cy="457200"/>
          </a:xfrm>
          <a:prstGeom prst="bentConnector3">
            <a:avLst>
              <a:gd name="adj1" fmla="val 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4800600" y="4191000"/>
            <a:ext cx="762000" cy="1524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41" name="TextBox 6"/>
          <p:cNvSpPr txBox="1">
            <a:spLocks noChangeArrowheads="1"/>
          </p:cNvSpPr>
          <p:nvPr/>
        </p:nvSpPr>
        <p:spPr bwMode="auto">
          <a:xfrm>
            <a:off x="1981200" y="6553200"/>
            <a:ext cx="71628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b="1" smtClean="0">
                <a:solidFill>
                  <a:srgbClr val="000000"/>
                </a:solidFill>
                <a:latin typeface="Calibri" pitchFamily="34" charset="0"/>
              </a:rPr>
              <a:t>				                                                       Source: CLASP, 2011 </a:t>
            </a:r>
          </a:p>
        </p:txBody>
      </p:sp>
      <p:pic>
        <p:nvPicPr>
          <p:cNvPr id="13342" name="Picture 4" descr="C:\Documents and Settings\elowerbasch\Local Settings\Temporary Internet Files\Content.IE5\BP25L8QL\MC900363478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3657600"/>
            <a:ext cx="2362200" cy="291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1" name="Straight Arrow Connector 30"/>
          <p:cNvCxnSpPr/>
          <p:nvPr/>
        </p:nvCxnSpPr>
        <p:spPr>
          <a:xfrm rot="5400000" flipH="1" flipV="1">
            <a:off x="3582988" y="3732212"/>
            <a:ext cx="304800" cy="3175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44" name="Slide Number Placeholder 3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EE68113-FC7D-45C9-A762-284674AA3AC0}" type="slidenum">
              <a:rPr lang="en-US" smtClean="0">
                <a:solidFill>
                  <a:srgbClr val="000000"/>
                </a:solidFill>
                <a:latin typeface="Arial" charset="0"/>
              </a:rPr>
              <a:pPr/>
              <a:t>11</a:t>
            </a:fld>
            <a:endParaRPr lang="en-US" smtClean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Blank Presentation">
  <a:themeElements>
    <a:clrScheme name="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FFFFFF"/>
      </a:accent3>
      <a:accent4>
        <a:srgbClr val="000000"/>
      </a:accent4>
      <a:accent5>
        <a:srgbClr val="F6C0AA"/>
      </a:accent5>
      <a:accent6>
        <a:srgbClr val="902430"/>
      </a:accent6>
      <a:hlink>
        <a:srgbClr val="6B9F25"/>
      </a:hlink>
      <a:folHlink>
        <a:srgbClr val="B26B02"/>
      </a:folHlink>
    </a:clrScheme>
    <a:fontScheme name="2_Blank Presentation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lank Presentation">
  <a:themeElements>
    <a:clrScheme name="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FFFFFF"/>
      </a:accent3>
      <a:accent4>
        <a:srgbClr val="000000"/>
      </a:accent4>
      <a:accent5>
        <a:srgbClr val="F6C0AA"/>
      </a:accent5>
      <a:accent6>
        <a:srgbClr val="902430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Blank Presentation">
  <a:themeElements>
    <a:clrScheme name="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FFFFFF"/>
      </a:accent3>
      <a:accent4>
        <a:srgbClr val="000000"/>
      </a:accent4>
      <a:accent5>
        <a:srgbClr val="F6C0AA"/>
      </a:accent5>
      <a:accent6>
        <a:srgbClr val="902430"/>
      </a:accent6>
      <a:hlink>
        <a:srgbClr val="6B9F25"/>
      </a:hlink>
      <a:folHlink>
        <a:srgbClr val="B26B02"/>
      </a:folHlink>
    </a:clrScheme>
    <a:fontScheme name="2_Blank Presentation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Blank Presentation">
  <a:themeElements>
    <a:clrScheme name="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FFFFFF"/>
      </a:accent3>
      <a:accent4>
        <a:srgbClr val="000000"/>
      </a:accent4>
      <a:accent5>
        <a:srgbClr val="F6C0AA"/>
      </a:accent5>
      <a:accent6>
        <a:srgbClr val="902430"/>
      </a:accent6>
      <a:hlink>
        <a:srgbClr val="6B9F25"/>
      </a:hlink>
      <a:folHlink>
        <a:srgbClr val="B26B02"/>
      </a:folHlink>
    </a:clrScheme>
    <a:fontScheme name="2_Blank Presentation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Blank Presentation">
  <a:themeElements>
    <a:clrScheme name="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FFFFFF"/>
      </a:accent3>
      <a:accent4>
        <a:srgbClr val="000000"/>
      </a:accent4>
      <a:accent5>
        <a:srgbClr val="F6C0AA"/>
      </a:accent5>
      <a:accent6>
        <a:srgbClr val="902430"/>
      </a:accent6>
      <a:hlink>
        <a:srgbClr val="6B9F25"/>
      </a:hlink>
      <a:folHlink>
        <a:srgbClr val="B26B02"/>
      </a:folHlink>
    </a:clrScheme>
    <a:fontScheme name="2_Blank Presentation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Blank Presentation">
  <a:themeElements>
    <a:clrScheme name="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FFFFFF"/>
      </a:accent3>
      <a:accent4>
        <a:srgbClr val="000000"/>
      </a:accent4>
      <a:accent5>
        <a:srgbClr val="F6C0AA"/>
      </a:accent5>
      <a:accent6>
        <a:srgbClr val="902430"/>
      </a:accent6>
      <a:hlink>
        <a:srgbClr val="6B9F25"/>
      </a:hlink>
      <a:folHlink>
        <a:srgbClr val="B26B02"/>
      </a:folHlink>
    </a:clrScheme>
    <a:fontScheme name="2_Blank Presentation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14831</TotalTime>
  <Words>1145</Words>
  <Application>Microsoft Office PowerPoint</Application>
  <PresentationFormat>On-screen Show (4:3)</PresentationFormat>
  <Paragraphs>238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9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2_Blank Presentation</vt:lpstr>
      <vt:lpstr>1_Blank Presentation</vt:lpstr>
      <vt:lpstr>3_Blank Presentation</vt:lpstr>
      <vt:lpstr>4_Blank Presentation</vt:lpstr>
      <vt:lpstr>5_Blank Presentation</vt:lpstr>
      <vt:lpstr>6_Blank Presentation</vt:lpstr>
      <vt:lpstr>7_Blank Presentation</vt:lpstr>
      <vt:lpstr>8_Blank Presentation</vt:lpstr>
      <vt:lpstr>9_Blank Presentation</vt:lpstr>
      <vt:lpstr> Positioning HBCUs in the Current Environment</vt:lpstr>
      <vt:lpstr>About IHEP</vt:lpstr>
      <vt:lpstr> OVERVIEW OF THE  HIGHER EDUCTION  LANDSCAPE </vt:lpstr>
      <vt:lpstr>The College Completion Agenda</vt:lpstr>
      <vt:lpstr>Low-income children are less  likely to enroll in college,  less likely to graduate </vt:lpstr>
      <vt:lpstr>Highest Level of Attainment by  Low-Income Young Adults, 2008 (by percent)</vt:lpstr>
      <vt:lpstr>Change in Highest Level of Attainment by  African Americans, 2000 and 2008 (by percent)</vt:lpstr>
      <vt:lpstr>HBCUs within the  Current Landscape </vt:lpstr>
      <vt:lpstr>Drivers of the  College Completion Agenda</vt:lpstr>
      <vt:lpstr>Building Blocks for College Success</vt:lpstr>
      <vt:lpstr>Financial Need Contributes  to Failure to Complete</vt:lpstr>
      <vt:lpstr>(Proven) Promising Practices:   Strategies that Support Student Success    </vt:lpstr>
      <vt:lpstr>Recommendation 1:   Institutions should amplify their capacity to  identify and track students, particularly those most at-risk     </vt:lpstr>
      <vt:lpstr>Recommendation 2:  Engage faculty early in the process  and provide continuous support     </vt:lpstr>
      <vt:lpstr>Recommendation 3:  Embrace curricular change as a way  to improve student success      </vt:lpstr>
      <vt:lpstr>Recommendation 4:  Institutions must ensure that promising practices  are visible both internally and externally       </vt:lpstr>
    </vt:vector>
  </TitlesOfParts>
  <Company>Design Army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Issues and Trends In Higher Education Financing The Emerging Private Sector Role</dc:title>
  <dc:creator>Brian Sponsler</dc:creator>
  <cp:lastModifiedBy>LaptopUser</cp:lastModifiedBy>
  <cp:revision>518</cp:revision>
  <cp:lastPrinted>2011-11-15T21:13:05Z</cp:lastPrinted>
  <dcterms:modified xsi:type="dcterms:W3CDTF">2012-06-13T16:56:14Z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0x010100E2E6579A97761C44BF987A35D9FCC28E</vt:lpwstr>
  </property>
  <property fmtid="{D5CDD505-2E9C-101B-9397-08002B2CF9AE}" pid="3" name="ContentType">
    <vt:lpwstr>Document</vt:lpwstr>
  </property>
</Properties>
</file>