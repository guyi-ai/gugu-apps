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10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48" r:id="rId11"/>
  </p:sldIdLst>
  <p:sldSz cx="9144000" cy="6858000" type="screen4x3"/>
  <p:notesSz cx="6858000" cy="92964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rgbClr val="FFFF66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FFFF66"/>
    <a:srgbClr val="2901BD"/>
    <a:srgbClr val="3A05FD"/>
    <a:srgbClr val="FF9900"/>
    <a:srgbClr val="FFFF99"/>
    <a:srgbClr val="99CCFF"/>
    <a:srgbClr val="FFCCFF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showOutlineIcons="0" vertBarState="minimized" horzBarState="maximized">
    <p:restoredLeft sz="32787"/>
    <p:restoredTop sz="90929"/>
  </p:normalViewPr>
  <p:slideViewPr>
    <p:cSldViewPr>
      <p:cViewPr varScale="1">
        <p:scale>
          <a:sx n="75" d="100"/>
          <a:sy n="75" d="100"/>
        </p:scale>
        <p:origin x="-70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026"/>
    </p:cViewPr>
  </p:sorterViewPr>
  <p:notesViewPr>
    <p:cSldViewPr>
      <p:cViewPr varScale="1">
        <p:scale>
          <a:sx n="40" d="100"/>
          <a:sy n="40" d="100"/>
        </p:scale>
        <p:origin x="-1392" y="-84"/>
      </p:cViewPr>
      <p:guideLst>
        <p:guide orient="horz" pos="2929"/>
        <p:guide pos="216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t" anchorCtr="0" compatLnSpc="1">
            <a:prstTxWarp prst="textNoShape">
              <a:avLst/>
            </a:prstTxWarp>
          </a:bodyPr>
          <a:lstStyle>
            <a:lvl1pPr algn="l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US"/>
              <a:t>SDS/SDS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3387" cy="4651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t" anchorCtr="0" compatLnSpc="1">
            <a:prstTxWarp prst="textNoShape">
              <a:avLst/>
            </a:prstTxWarp>
          </a:bodyPr>
          <a:lstStyle>
            <a:lvl1pPr algn="r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F9A9A3AC-7D87-4441-A633-53B9CA3FC5D3}" type="datetime1">
              <a:rPr lang="en-US"/>
              <a:pPr/>
              <a:t>6/18/2008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3388" cy="4651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b" anchorCtr="0" compatLnSpc="1">
            <a:prstTxWarp prst="textNoShape">
              <a:avLst/>
            </a:prstTxWarp>
          </a:bodyPr>
          <a:lstStyle>
            <a:lvl1pPr algn="l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US"/>
              <a:t>SDS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3387" cy="4651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b" anchorCtr="0" compatLnSpc="1">
            <a:prstTxWarp prst="textNoShape">
              <a:avLst/>
            </a:prstTxWarp>
          </a:bodyPr>
          <a:lstStyle>
            <a:lvl1pPr algn="r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3DCC02E8-4F43-407E-854B-69157846671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t" anchorCtr="0" compatLnSpc="1">
            <a:prstTxWarp prst="textNoShape">
              <a:avLst/>
            </a:prstTxWarp>
          </a:bodyPr>
          <a:lstStyle>
            <a:lvl1pPr algn="l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06488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418013"/>
            <a:ext cx="5026025" cy="41814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3387" cy="4651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t" anchorCtr="0" compatLnSpc="1">
            <a:prstTxWarp prst="textNoShape">
              <a:avLst/>
            </a:prstTxWarp>
          </a:bodyPr>
          <a:lstStyle>
            <a:lvl1pPr algn="r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336668E9-9399-4E26-8D66-0766B51BE7F6}" type="datetime1">
              <a:rPr lang="en-US"/>
              <a:pPr/>
              <a:t>6/18/2008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3388" cy="4651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b" anchorCtr="0" compatLnSpc="1">
            <a:prstTxWarp prst="textNoShape">
              <a:avLst/>
            </a:prstTxWarp>
          </a:bodyPr>
          <a:lstStyle>
            <a:lvl1pPr algn="l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31263"/>
            <a:ext cx="2973387" cy="4651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791" tIns="45895" rIns="91791" bIns="45895" numCol="1" anchor="b" anchorCtr="0" compatLnSpc="1">
            <a:prstTxWarp prst="textNoShape">
              <a:avLst/>
            </a:prstTxWarp>
          </a:bodyPr>
          <a:lstStyle>
            <a:lvl1pPr algn="r" defTabSz="919163"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73F5B70A-9BA1-44A3-A330-5D2BE2DC910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4C4E13F1-B15C-4C57-9890-C5518C561AFE}" type="datetime1">
              <a:rPr lang="en-US"/>
              <a:pPr/>
              <a:t>6/18/2008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DCAFDB-F4AB-4526-A1DE-6F83B243799D}" type="slidenum">
              <a:rPr lang="en-US"/>
              <a:pPr/>
              <a:t>10</a:t>
            </a:fld>
            <a:endParaRPr lang="en-US"/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81000" y="0"/>
            <a:ext cx="14478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85800" y="2438400"/>
            <a:ext cx="845661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057400" y="41148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1009BEE-08D1-4E7C-BB74-2FC1EA67CE5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0" y="3505200"/>
            <a:ext cx="47244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219B06-2EDA-49C0-9CB3-0BFDFA2365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92C9F-6B29-4E8B-932D-5AF219B186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36008F-E994-43C2-B553-FE6A25BB1F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8F6C76-1B24-4CB7-A7C8-1A104215FD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35AA22-1F69-479F-8F85-319199CD2C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1D2F92-9635-4E02-AB85-6B811FBB42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4AF668-990E-4361-9410-AAE25F6440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41A5F-AF75-4970-B510-CE0409F428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13DBBD-7A04-4723-B92B-FB6E26DB2E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testdoc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84D52-7605-4E24-90FD-BBEC27583AD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81000" y="0"/>
            <a:ext cx="14478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52400" y="1752600"/>
            <a:ext cx="47244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685800" y="6629400"/>
            <a:ext cx="3505200" cy="227013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shade val="4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62000" y="762000"/>
            <a:ext cx="838041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fld id="{5D5815CD-596C-49F7-825B-434B95114BD9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zoom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summary</a:t>
            </a:r>
            <a:endParaRPr lang="es-ES_tradnl"/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>
                <a:effectLst>
                  <a:outerShdw blurRad="38100" dist="38100" dir="2700000" algn="tl">
                    <a:srgbClr val="000000"/>
                  </a:outerShdw>
                </a:effectLst>
              </a:rPr>
              <a:t>Project preparation and structuring may not be a source of funds, but can help bring funds and enhance the long term sustainability of water projects</a:t>
            </a:r>
          </a:p>
          <a:p>
            <a:endParaRPr lang="en-US" b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r>
              <a:rPr lang="en-US" b="0">
                <a:effectLst>
                  <a:outerShdw blurRad="38100" dist="38100" dir="2700000" algn="tl">
                    <a:srgbClr val="000000"/>
                  </a:outerShdw>
                </a:effectLst>
              </a:rPr>
              <a:t>All actors, all sources, all structures must be explored</a:t>
            </a:r>
            <a:endParaRPr lang="es-ES_tradnl" b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00"/>
      </a:lt1>
      <a:dk2>
        <a:srgbClr val="0066CC"/>
      </a:dk2>
      <a:lt2>
        <a:srgbClr val="F0FC02"/>
      </a:lt2>
      <a:accent1>
        <a:srgbClr val="00CCFF"/>
      </a:accent1>
      <a:accent2>
        <a:srgbClr val="00FFCC"/>
      </a:accent2>
      <a:accent3>
        <a:srgbClr val="AAB8E2"/>
      </a:accent3>
      <a:accent4>
        <a:srgbClr val="DADA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20044</TotalTime>
  <Words>367</Words>
  <Application>Microsoft PowerPoint 7.0</Application>
  <PresentationFormat>On-screen Show (4:3)</PresentationFormat>
  <Paragraphs>91</Paragraphs>
  <Slides>11</Slides>
  <Notes>11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Default Design</vt:lpstr>
      <vt:lpstr>Photo Editor Photo</vt:lpstr>
      <vt:lpstr>Slide</vt:lpstr>
      <vt:lpstr>Removing financing obstacles through project structuring </vt:lpstr>
      <vt:lpstr>Outline of the presentation</vt:lpstr>
      <vt:lpstr>Slide 3</vt:lpstr>
      <vt:lpstr>Project preparation</vt:lpstr>
      <vt:lpstr>Project preparation</vt:lpstr>
      <vt:lpstr>Project structuring</vt:lpstr>
      <vt:lpstr>Project structuring: local conditions</vt:lpstr>
      <vt:lpstr>Slide 8</vt:lpstr>
      <vt:lpstr>Water financing model</vt:lpstr>
      <vt:lpstr>In summary</vt:lpstr>
      <vt:lpstr>Removing financing obstacles through project structuring </vt:lpstr>
    </vt:vector>
  </TitlesOfParts>
  <Manager>Antonio Vives</Manager>
  <Company>IADB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Finance</dc:title>
  <dc:subject/>
  <dc:creator>Antonio Vives</dc:creator>
  <cp:lastModifiedBy>XPVMWARE01</cp:lastModifiedBy>
  <cp:revision>506</cp:revision>
  <cp:lastPrinted>2002-05-03T16:19:44Z</cp:lastPrinted>
  <dcterms:created xsi:type="dcterms:W3CDTF">1998-11-20T16:31:11Z</dcterms:created>
  <dcterms:modified xsi:type="dcterms:W3CDTF">2008-06-18T13:07:24Z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2</vt:i4>
  </property>
  <property fmtid="{D5CDD505-2E9C-101B-9397-08002B2CF9AE}" pid="7" name="MailAddress">
    <vt:lpwstr>martinc@iadb.org</vt:lpwstr>
  </property>
  <property fmtid="{D5CDD505-2E9C-101B-9397-08002B2CF9AE}" pid="8" name="HomePage">
    <vt:lpwstr>sdsnet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I:\STRATEGY\Presentation</vt:lpwstr>
  </property>
</Properties>
</file>